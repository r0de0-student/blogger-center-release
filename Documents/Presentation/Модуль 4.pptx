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72" r:id="rId14"/>
    <p:sldId id="286" r:id="rId15"/>
    <p:sldId id="287" r:id="rId16"/>
    <p:sldId id="288" r:id="rId17"/>
    <p:sldId id="258" r:id="rId18"/>
    <p:sldId id="275" r:id="rId19"/>
    <p:sldId id="265" r:id="rId20"/>
    <p:sldId id="274" r:id="rId21"/>
    <p:sldId id="277" r:id="rId22"/>
    <p:sldId id="278" r:id="rId23"/>
    <p:sldId id="289" r:id="rId2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 autoAdjust="0"/>
    <p:restoredTop sz="94645" autoAdjust="0"/>
  </p:normalViewPr>
  <p:slideViewPr>
    <p:cSldViewPr snapToGrid="0">
      <p:cViewPr>
        <p:scale>
          <a:sx n="66" d="100"/>
          <a:sy n="66" d="100"/>
        </p:scale>
        <p:origin x="2274" y="1062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134" y="1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44DDA53-17BB-4810-91A8-94FE944ADC38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6D8BCF56-022D-4E84-9600-36794E4DE2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AF08D30-F807-4561-A81E-6E077448AA00}" type="datetimeFigureOut">
              <a:rPr lang="ru-RU" smtClean="0"/>
              <a:t>11.05.2026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D82C05A-7A07-4286-AA18-B883C0AF9A3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50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81CB-3447-70AE-D0C6-105C3D4A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DC9383-96EB-98CA-7F9F-40C4AF2FF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810B23-6AEA-6657-8641-139BB5862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D8D9D5-D3AC-C3B8-702B-4DC88EEBB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7164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9D2-04EA-34B0-D782-F3A92D82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F602D1-0BE1-2361-AA37-FE378DB32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2871D6-5D90-DA1B-B993-686649D981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25E3E2-D83D-7771-5435-25DE16809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4471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9A70-D837-A078-6E82-84873B14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2DFB14-C2C1-94DC-123D-808451391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C83E781-D45B-289D-9383-14612DBB3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FBE274-37F2-2265-E55C-4F29782C6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261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61F6-F062-BF5B-1FDC-1C031753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F845CA-E88D-CDAB-9DD6-5D05CDDDE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333E38-32F8-4050-6F47-F66F9F206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5E03E9-7C9B-4A40-4B85-0D5C16E49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18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7669-D94A-DA52-66A9-60B0B9B2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AEB2816-E04C-C6C3-1831-F38B7DEC0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0AC126-D482-EB66-64B4-6B237D280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1D2075-92C7-02A0-ED11-F64264124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9376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AF09-919C-5C66-C78F-9DE56962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98BB1C-D96C-A945-D679-3204C9D34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CCAC98-F8F1-EB76-6DD0-521F62FB0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9736B9-5BC8-0934-FFBE-D6C0FDAD6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967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C8EA-604A-279B-BD7C-5BDAE793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D12817-B265-DA05-1583-2CC533068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87208D3-878D-2684-19B0-C0CB6139A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BAC56-ACAF-F826-3930-86AA8E1B9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28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F67E-D993-3A86-ACD3-B6A04E3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C53A6E-B4DC-49C8-904F-F26B95D28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D655F7-AFFD-6931-D08C-1E216217E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6B823D-4435-3F34-037A-25F4F3A8E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636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1A8F3-7E43-81D4-99BB-A165FE95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FAEC4D-F7A0-C46E-9A4A-951ADEBF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B2D9BD-927A-EB2D-02C7-BB1B2445C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7CAF88-AC37-3D2C-CA19-2BD5D96C7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8529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8219-8A3E-24AE-2627-EFDBE22B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B530447-4982-C0BA-DA20-A2D55283E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7B024B-C5AC-8393-6C75-8B88AFF1A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D29CE6-BB47-D716-5FE2-897C75718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512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31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997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896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99950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6415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2345-3097-7751-7CC4-4051DAAF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3DF26D1-B3BE-39E3-4190-C429EDA49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DAE686-A116-A943-F8DA-F9B6B1BCA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911DA4-4B6D-7B72-282F-D168AAE07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604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rtlCol="0" anchor="ctr">
            <a:noAutofit/>
          </a:bodyPr>
          <a:lstStyle>
            <a:lvl1pPr algn="ctr">
              <a:defRPr lang="ru-RU" sz="72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Графический объект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Графический объект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 rtlCol="0"/>
          <a:lstStyle>
            <a:lvl1pPr>
              <a:lnSpc>
                <a:spcPct val="150000"/>
              </a:lnSpc>
              <a:defRPr lang="ru-RU" sz="1800"/>
            </a:lvl1pPr>
            <a:lvl2pPr>
              <a:lnSpc>
                <a:spcPct val="150000"/>
              </a:lnSpc>
              <a:defRPr lang="ru-RU" sz="1800"/>
            </a:lvl2pPr>
            <a:lvl3pPr>
              <a:lnSpc>
                <a:spcPct val="150000"/>
              </a:lnSpc>
              <a:defRPr lang="ru-RU" sz="1600"/>
            </a:lvl3pPr>
            <a:lvl4pPr>
              <a:lnSpc>
                <a:spcPct val="150000"/>
              </a:lnSpc>
              <a:defRPr lang="ru-RU" sz="1400"/>
            </a:lvl4pPr>
            <a:lvl5pPr>
              <a:lnSpc>
                <a:spcPct val="150000"/>
              </a:lnSpc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Дата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BF9ABEAD-3133-420B-8B73-B91D538D4248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47" name="Графический объект 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Графический объект 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Графический объект 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Номер слайда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 dirty="0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E8D04CD9-D6D1-4088-B622-37AD9F937AC3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rtlCol="0" anchor="ctr"/>
          <a:lstStyle>
            <a:lvl1pPr algn="ctr">
              <a:defRPr lang="ru-RU" sz="54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  <p:sp>
        <p:nvSpPr>
          <p:cNvPr id="3" name="Прямоугольник: Скругленные углы 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Дата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CC223CA-11C9-43EE-8000-3F8FBBB84C53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Графический объект 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Номер слайда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Дата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06CEA2B4-5E96-462A-BC9C-86745451DD26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rtlCol="0" anchor="ctr">
            <a:noAutofit/>
          </a:bodyPr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3" name="Прямоугольник: Скругленные углы 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17E8AAA2-3E44-49B5-88D8-13DCE02B80BE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lvl1pPr>
              <a:lnSpc>
                <a:spcPts val="1900"/>
              </a:lnSpc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Дата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A850D8F-0CC4-425D-A979-EBE1CDDD15F3}" type="datetime1">
              <a:rPr lang="ru-RU" smtClean="0"/>
              <a:t>11.05.2026</a:t>
            </a:fld>
            <a:endParaRPr lang="ru-RU" dirty="0"/>
          </a:p>
        </p:txBody>
      </p:sp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Графический объект 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Графический объект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9AF5A4E2-3BF6-48DC-B37D-10F915567F42}" type="datetime1">
              <a:rPr lang="ru-RU" smtClean="0"/>
              <a:t>11.05.2026</a:t>
            </a:fld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Номер слайда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Местозаполнитель таблицы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 rtlCol="0"/>
          <a:lstStyle>
            <a:lvl1pPr>
              <a:defRPr lang="ru-RU" sz="2000"/>
            </a:lvl1pPr>
          </a:lstStyle>
          <a:p>
            <a:pPr lvl="0" rtl="0"/>
            <a:r>
              <a:rPr lang="ru-RU"/>
              <a:t>Щелкните, чтобы добавить таблицу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Дата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49FDB3F-FB5F-4A13-B0E4-2179062ED3EB}" type="datetime1">
              <a:rPr lang="ru-RU" smtClean="0"/>
              <a:t>11.05.2026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buNone/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Дата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D2EAD99-B809-457B-8FEA-3374F23E7D67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0CC0B67-4873-43C1-A59D-C8B8243567FE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: Скругленные углы 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6000" dirty="0"/>
            </a:lvl1pPr>
          </a:lstStyle>
          <a:p>
            <a:pPr lvl="0" algn="ctr" rtl="0"/>
            <a:r>
              <a:rPr lang="ru-RU" b="1"/>
              <a:t>Заголовок слайда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rtlCol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lang="ru-RU" sz="1800"/>
            </a:lvl1pPr>
            <a:lvl2pPr>
              <a:lnSpc>
                <a:spcPct val="150000"/>
              </a:lnSpc>
              <a:defRPr lang="ru-RU" sz="2000"/>
            </a:lvl2pPr>
            <a:lvl3pPr>
              <a:lnSpc>
                <a:spcPct val="150000"/>
              </a:lnSpc>
              <a:defRPr lang="ru-RU" sz="1800"/>
            </a:lvl3pPr>
            <a:lvl4pPr>
              <a:lnSpc>
                <a:spcPct val="150000"/>
              </a:lnSpc>
              <a:defRPr lang="ru-RU" sz="1600"/>
            </a:lvl4pPr>
            <a:lvl5pPr>
              <a:lnSpc>
                <a:spcPct val="150000"/>
              </a:lnSpc>
              <a:defRPr lang="ru-RU" sz="1600"/>
            </a:lvl5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Дата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4CD40B58-63FD-4530-B9E0-C9E7ABF65AE2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26B3BE8-832C-4B4E-8995-BC0B71FC1D3B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F3A33A56-0597-4E10-A0BE-9EF3BBACC210}" type="datetime1">
              <a:rPr lang="ru-RU" smtClean="0"/>
              <a:pPr/>
              <a:t>11.05.2026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b="1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F16097B-19FA-4720-8263-205F92129BE2}" type="datetime1">
              <a:rPr lang="ru-RU" smtClean="0"/>
              <a:t>11.05.2026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0de0-student/BloGGer-Cente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0de0-student/BloGGer-Cente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7751" y="1876097"/>
            <a:ext cx="7896498" cy="192339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>
                <a:latin typeface="Bahnschrift Condensed" panose="020B0502040204020203" pitchFamily="34" charset="0"/>
              </a:rPr>
              <a:t>BloGGing</a:t>
            </a:r>
            <a:r>
              <a:rPr lang="ru-RU" dirty="0">
                <a:latin typeface="Bahnschrift Condensed" panose="020B0502040204020203" pitchFamily="34" charset="0"/>
              </a:rPr>
              <a:t>-</a:t>
            </a:r>
            <a:r>
              <a:rPr lang="en-US" dirty="0" err="1">
                <a:latin typeface="Bahnschrift Condensed" panose="020B0502040204020203" pitchFamily="34" charset="0"/>
              </a:rPr>
              <a:t>CenteR</a:t>
            </a:r>
            <a:br>
              <a:rPr lang="ru-RU" b="0" dirty="0">
                <a:latin typeface="Bahnschrift Condensed" panose="020B0502040204020203" pitchFamily="34" charset="0"/>
              </a:rPr>
            </a:br>
            <a:r>
              <a:rPr lang="ru-RU" sz="3600" b="0" i="1" dirty="0">
                <a:latin typeface="Bahnschrift Condensed" panose="020B0502040204020203" pitchFamily="34" charset="0"/>
              </a:rPr>
              <a:t>Платформа для ведения тематических блогов</a:t>
            </a:r>
            <a:br>
              <a:rPr lang="ru-RU" sz="3600" b="0" dirty="0">
                <a:latin typeface="Bahnschrift Condensed" panose="020B0502040204020203" pitchFamily="34" charset="0"/>
              </a:rPr>
            </a:br>
            <a:br>
              <a:rPr lang="ru-RU" b="0" dirty="0"/>
            </a:br>
            <a:endParaRPr lang="ru-RU" sz="36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B6600-5713-D6B0-2A10-04DFAEF395D7}"/>
              </a:ext>
            </a:extLst>
          </p:cNvPr>
          <p:cNvSpPr txBox="1"/>
          <p:nvPr/>
        </p:nvSpPr>
        <p:spPr>
          <a:xfrm>
            <a:off x="3726543" y="3429000"/>
            <a:ext cx="473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Модуль 4: </a:t>
            </a:r>
            <a:r>
              <a:rPr lang="ru-RU" dirty="0" err="1"/>
              <a:t>Docker</a:t>
            </a:r>
            <a:r>
              <a:rPr lang="ru-RU" dirty="0"/>
              <a:t>, Релиз, Документация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5386E-6CAE-7655-AC64-DE6A829373F0}"/>
              </a:ext>
            </a:extLst>
          </p:cNvPr>
          <p:cNvSpPr txBox="1"/>
          <p:nvPr/>
        </p:nvSpPr>
        <p:spPr>
          <a:xfrm>
            <a:off x="2147751" y="4887254"/>
            <a:ext cx="7110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Гармонов Родион Андреевич, ПИб-242</a:t>
            </a:r>
          </a:p>
          <a:p>
            <a:r>
              <a:rPr lang="ru-RU" dirty="0"/>
              <a:t>Репозиторий:</a:t>
            </a:r>
            <a:r>
              <a:rPr lang="ru-RU" u="sng" dirty="0">
                <a:solidFill>
                  <a:schemeClr val="accent4">
                    <a:lumMod val="50000"/>
                  </a:schemeClr>
                </a:solidFill>
              </a:rPr>
              <a:t> 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github.com/r0de0-student/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BloGGer-CenteR</a:t>
            </a:r>
            <a:endParaRPr lang="ru-RU" u="sng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ru-RU" dirty="0"/>
              <a:t>Релиз: 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github.com/r0de0-student/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</a:rPr>
              <a:t>BloGGer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-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</a:rPr>
              <a:t>CenteR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-Release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4057" y="1016001"/>
            <a:ext cx="4963886" cy="1509486"/>
          </a:xfrm>
        </p:spPr>
        <p:txBody>
          <a:bodyPr rtlCol="0" anchor="ctr"/>
          <a:lstStyle>
            <a:defPPr>
              <a:defRPr lang="ru-RU"/>
            </a:defPPr>
          </a:lstStyle>
          <a:p>
            <a:pPr algn="ctr"/>
            <a:r>
              <a:rPr lang="ru-RU" sz="4400" dirty="0">
                <a:latin typeface="Bahnschrift Condensed" panose="020B0502040204020203" pitchFamily="34" charset="0"/>
              </a:rPr>
              <a:t> Доработанная функциональность</a:t>
            </a:r>
            <a:br>
              <a:rPr lang="ru-RU" sz="4400" dirty="0">
                <a:latin typeface="Bahnschrift Condensed" panose="020B0502040204020203" pitchFamily="34" charset="0"/>
              </a:rPr>
            </a:br>
            <a:endParaRPr lang="ru-RU" sz="4400" b="1" dirty="0">
              <a:latin typeface="Bahnschrift Condensed" panose="020B0502040204020203" pitchFamily="34" charset="0"/>
            </a:endParaRP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CD348DF8-FACD-91C3-6C41-517FD6277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z="3200" b="1" smtClean="0">
                <a:latin typeface="Bahnschrift Condensed" panose="020B0502040204020203" pitchFamily="34" charset="0"/>
              </a:rPr>
              <a:pPr/>
              <a:t>2</a:t>
            </a:fld>
            <a:endParaRPr lang="ru-RU" sz="3200" b="1" dirty="0">
              <a:latin typeface="Bahnschrift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684A91-3CC4-622A-2093-B5916356EF3F}"/>
              </a:ext>
            </a:extLst>
          </p:cNvPr>
          <p:cNvSpPr txBox="1"/>
          <p:nvPr/>
        </p:nvSpPr>
        <p:spPr>
          <a:xfrm>
            <a:off x="3614057" y="2267418"/>
            <a:ext cx="496388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/>
              <a:t>Страница статьи с кнопкой "Удалить комментарий"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/>
              <a:t>Админ-панель → Статьи (кнопка удаления статьи)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/>
              <a:t>Админ-панель → Комментарии (кнопка удаления комментария)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/>
              <a:t>Админ-панель → Пользователи (заблокировать/разблокировать)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/>
              <a:t>Поиск по статьям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5E92-40CC-0B74-5375-81478F4F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955C646E-382B-A376-1FEE-376609943B85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3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389717-E645-7270-78A7-8608C6410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0" y="360150"/>
            <a:ext cx="5826457" cy="30688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A976B7-D9FA-7DAA-E7B3-F636B4249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282" y="2765240"/>
            <a:ext cx="5826458" cy="310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7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B06A5-D62E-FC04-EA58-5D515081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3EE45AA6-CC4C-E37A-61DC-A4FFB2CFC129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4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C815434-F8A9-96C5-6A0F-50159214B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91" y="403029"/>
            <a:ext cx="6159865" cy="32727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B8D632-F72E-2594-CD7D-7F12BB755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332" y="2815565"/>
            <a:ext cx="5695408" cy="30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4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0666-5DA8-86B9-926F-F2992CC6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B7011-5850-67B5-E7F0-3ACC0CB1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12" y="3149600"/>
            <a:ext cx="4214730" cy="23072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5400" dirty="0">
                <a:latin typeface="Bahnschrift Condensed" panose="020B0502040204020203" pitchFamily="34" charset="0"/>
              </a:rPr>
              <a:t>Релизный репозиторий</a:t>
            </a:r>
            <a:r>
              <a:rPr lang="ru-RU" sz="4400" dirty="0">
                <a:latin typeface="Bahnschrift Condensed" panose="020B0502040204020203" pitchFamily="34" charset="0"/>
              </a:rPr>
              <a:t> </a:t>
            </a:r>
            <a:br>
              <a:rPr lang="en-US" sz="4400" dirty="0">
                <a:latin typeface="Bahnschrift Condensed" panose="020B0502040204020203" pitchFamily="34" charset="0"/>
              </a:rPr>
            </a:br>
            <a:r>
              <a:rPr lang="ru-RU" sz="4400" dirty="0">
                <a:latin typeface="Bahnschrift Condensed" panose="020B0502040204020203" pitchFamily="34" charset="0"/>
              </a:rPr>
              <a:t>(корень)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0CE0CF-23DB-AE0B-CD32-2E34A9EE6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443" y="1214480"/>
            <a:ext cx="6965271" cy="4272510"/>
          </a:xfrm>
          <a:prstGeom prst="rect">
            <a:avLst/>
          </a:prstGeom>
        </p:spPr>
      </p:pic>
      <p:sp>
        <p:nvSpPr>
          <p:cNvPr id="3" name="Номер слайда 4">
            <a:extLst>
              <a:ext uri="{FF2B5EF4-FFF2-40B4-BE49-F238E27FC236}">
                <a16:creationId xmlns:a16="http://schemas.microsoft.com/office/drawing/2014/main" id="{DAC07907-AFD8-D56B-4B94-D2128E65887E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5735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7525-54B6-0AF5-8F6E-E0F524DD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51AFF-F8BE-6AC0-A5D1-E36D740D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12" y="3149600"/>
            <a:ext cx="4214730" cy="23072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5400" dirty="0">
                <a:latin typeface="Bahnschrift Condensed" panose="020B0502040204020203" pitchFamily="34" charset="0"/>
              </a:rPr>
              <a:t>Релизный репозиторий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4000" dirty="0">
                <a:latin typeface="Bahnschrift Condensed" panose="020B0502040204020203" pitchFamily="34" charset="0"/>
              </a:rPr>
              <a:t>(документы) </a:t>
            </a:r>
          </a:p>
        </p:txBody>
      </p:sp>
      <p:sp>
        <p:nvSpPr>
          <p:cNvPr id="3" name="Номер слайда 4">
            <a:extLst>
              <a:ext uri="{FF2B5EF4-FFF2-40B4-BE49-F238E27FC236}">
                <a16:creationId xmlns:a16="http://schemas.microsoft.com/office/drawing/2014/main" id="{CAE31CE5-6F89-9CD9-CCBF-04FFB158389C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9FC56D-7A58-911B-2910-1D0BF3FDB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286" y="1193672"/>
            <a:ext cx="7039428" cy="426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88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B0A8A-7EEF-5F5B-DFDF-F5ECB8D7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D8697-1C3A-56ED-60AF-43897B4B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12" y="3149600"/>
            <a:ext cx="4214730" cy="23072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5400" dirty="0">
                <a:latin typeface="Bahnschrift Condensed" panose="020B0502040204020203" pitchFamily="34" charset="0"/>
              </a:rPr>
              <a:t>Релизный репозиторий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4000" dirty="0">
                <a:latin typeface="Bahnschrift Condensed" panose="020B0502040204020203" pitchFamily="34" charset="0"/>
              </a:rPr>
              <a:t>(</a:t>
            </a:r>
            <a:r>
              <a:rPr lang="en-US" sz="4000" dirty="0">
                <a:latin typeface="Bahnschrift Condensed" panose="020B0502040204020203" pitchFamily="34" charset="0"/>
              </a:rPr>
              <a:t>README.md</a:t>
            </a:r>
            <a:r>
              <a:rPr lang="ru-RU" sz="4000" dirty="0">
                <a:latin typeface="Bahnschrift Condensed" panose="020B0502040204020203" pitchFamily="34" charset="0"/>
              </a:rPr>
              <a:t>) </a:t>
            </a:r>
          </a:p>
        </p:txBody>
      </p:sp>
      <p:sp>
        <p:nvSpPr>
          <p:cNvPr id="3" name="Номер слайда 4">
            <a:extLst>
              <a:ext uri="{FF2B5EF4-FFF2-40B4-BE49-F238E27FC236}">
                <a16:creationId xmlns:a16="http://schemas.microsoft.com/office/drawing/2014/main" id="{DCD4329C-F8F0-18C5-5FCA-B80D4E9259FC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7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DF2B85-AEE9-ED27-50EB-34B4DC82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530"/>
          <a:stretch>
            <a:fillRect/>
          </a:stretch>
        </p:blipFill>
        <p:spPr>
          <a:xfrm>
            <a:off x="4876800" y="-25778"/>
            <a:ext cx="7315200" cy="628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85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D5B8-4951-7B67-8B32-C29F97033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D5605-0612-F12E-EFF7-E7BCC869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12" y="3149600"/>
            <a:ext cx="4214730" cy="23072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5400" dirty="0">
                <a:latin typeface="Bahnschrift Condensed" panose="020B0502040204020203" pitchFamily="34" charset="0"/>
              </a:rPr>
              <a:t>Релизный репозиторий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4000" dirty="0">
                <a:latin typeface="Bahnschrift Condensed" panose="020B0502040204020203" pitchFamily="34" charset="0"/>
              </a:rPr>
              <a:t>(</a:t>
            </a:r>
            <a:r>
              <a:rPr lang="en-US" sz="4000" dirty="0">
                <a:latin typeface="Bahnschrift Condensed" panose="020B0502040204020203" pitchFamily="34" charset="0"/>
              </a:rPr>
              <a:t>Docker</a:t>
            </a:r>
            <a:r>
              <a:rPr lang="ru-RU" sz="4000" dirty="0">
                <a:latin typeface="Bahnschrift Condensed" panose="020B0502040204020203" pitchFamily="34" charset="0"/>
              </a:rPr>
              <a:t>) </a:t>
            </a:r>
          </a:p>
        </p:txBody>
      </p:sp>
      <p:sp>
        <p:nvSpPr>
          <p:cNvPr id="3" name="Номер слайда 4">
            <a:extLst>
              <a:ext uri="{FF2B5EF4-FFF2-40B4-BE49-F238E27FC236}">
                <a16:creationId xmlns:a16="http://schemas.microsoft.com/office/drawing/2014/main" id="{B24D9657-A0F7-30D3-686C-C3D3FC3CDAD2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8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38BE2C-870B-7771-C303-39922E493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54" y="1240052"/>
            <a:ext cx="7010672" cy="42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93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4B70-756D-A330-0EA4-5220A59C0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7112F-2168-2D9B-C3BD-EF68946D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12" y="3149600"/>
            <a:ext cx="4214730" cy="230722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5400" dirty="0">
                <a:latin typeface="Bahnschrift Condensed" panose="020B0502040204020203" pitchFamily="34" charset="0"/>
              </a:rPr>
              <a:t>Релизный репозиторий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2800" dirty="0">
                <a:latin typeface="Bahnschrift Condensed" panose="020B0502040204020203" pitchFamily="34" charset="0"/>
              </a:rPr>
              <a:t>(</a:t>
            </a:r>
            <a:r>
              <a:rPr lang="en-US" sz="2800" dirty="0">
                <a:latin typeface="Bahnschrift Condensed" panose="020B0502040204020203" pitchFamily="34" charset="0"/>
              </a:rPr>
              <a:t>Docker-</a:t>
            </a:r>
            <a:r>
              <a:rPr lang="en-US" sz="2800" dirty="0" err="1">
                <a:latin typeface="Bahnschrift Condensed" panose="020B0502040204020203" pitchFamily="34" charset="0"/>
              </a:rPr>
              <a:t>compose.yml</a:t>
            </a:r>
            <a:r>
              <a:rPr lang="ru-RU" sz="2800" dirty="0">
                <a:latin typeface="Bahnschrift Condensed" panose="020B0502040204020203" pitchFamily="34" charset="0"/>
              </a:rPr>
              <a:t>) </a:t>
            </a:r>
          </a:p>
        </p:txBody>
      </p:sp>
      <p:sp>
        <p:nvSpPr>
          <p:cNvPr id="3" name="Номер слайда 4">
            <a:extLst>
              <a:ext uri="{FF2B5EF4-FFF2-40B4-BE49-F238E27FC236}">
                <a16:creationId xmlns:a16="http://schemas.microsoft.com/office/drawing/2014/main" id="{D3C66075-C153-C4D2-DDA8-3E58D35D5FCE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9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86F878-5BCF-0418-B308-100DD1724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285" y="1"/>
            <a:ext cx="7329715" cy="626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5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7200" dirty="0">
                <a:latin typeface="Bahnschrift Condensed" panose="020B0502040204020203" pitchFamily="34" charset="0"/>
              </a:rPr>
              <a:t>Описание документации </a:t>
            </a:r>
            <a:r>
              <a:rPr lang="ru-RU" sz="4400" dirty="0">
                <a:latin typeface="Bahnschrift Condensed" panose="020B0502040204020203" pitchFamily="34" charset="0"/>
              </a:rPr>
              <a:t>(user_guide.md)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BD9A4-880C-D182-FC16-62EBBF983CE0}"/>
              </a:ext>
            </a:extLst>
          </p:cNvPr>
          <p:cNvSpPr txBox="1"/>
          <p:nvPr/>
        </p:nvSpPr>
        <p:spPr>
          <a:xfrm>
            <a:off x="7518400" y="1059463"/>
            <a:ext cx="429622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Содержание документа:</a:t>
            </a:r>
            <a:endParaRPr lang="en-US" sz="2400" b="1" dirty="0"/>
          </a:p>
          <a:p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Назначение и аудитория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Регистрация и вход в систему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Описание ролей (администратор, автор, читатель)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Основные сценарии работы для каждой роли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Часто задаваемые вопросы (FAQ)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Скриншоты интерфейса</a:t>
            </a: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BD7D987E-F327-6D9E-A899-69BD3B689D6E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10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2295-9053-3B93-70DA-8009E58A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67099-8AE5-6ED9-531D-AF9A84EC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7200" dirty="0">
                <a:latin typeface="Bahnschrift Condensed" panose="020B0502040204020203" pitchFamily="34" charset="0"/>
              </a:rPr>
              <a:t> Описание документации </a:t>
            </a:r>
            <a:r>
              <a:rPr lang="ru-RU" sz="4400" dirty="0">
                <a:latin typeface="Bahnschrift Condensed" panose="020B0502040204020203" pitchFamily="34" charset="0"/>
              </a:rPr>
              <a:t>(dev_guide.md)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AD454-6AAD-43FF-7BD5-1A344CA73FC1}"/>
              </a:ext>
            </a:extLst>
          </p:cNvPr>
          <p:cNvSpPr txBox="1"/>
          <p:nvPr/>
        </p:nvSpPr>
        <p:spPr>
          <a:xfrm>
            <a:off x="7518400" y="1059463"/>
            <a:ext cx="429622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Содержание документа:</a:t>
            </a:r>
            <a:endParaRPr lang="en-US" sz="2000" b="1" dirty="0"/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Структура проекта (схема папок)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Описание архитектуры MVC с примерами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Технологический стек и обоснование выбора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Возможные ошибки и их устранение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Работа с </a:t>
            </a:r>
            <a:r>
              <a:rPr lang="ru-RU" sz="2000" dirty="0" err="1"/>
              <a:t>Docker</a:t>
            </a:r>
            <a:r>
              <a:rPr lang="ru-RU" sz="2000" dirty="0"/>
              <a:t> (команды, добавление сервисов)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Безопасность (SQL-инъекции, XSS, хэширование)</a:t>
            </a:r>
          </a:p>
          <a:p>
            <a:endParaRPr lang="ru-RU" dirty="0"/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D2B80413-2B14-514E-AEFA-11B9E0C291AE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11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57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071A-77A9-3C34-4772-42BE228CB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08AF6-2F00-0045-34F8-7EEB53D23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 </a:t>
            </a:r>
            <a:r>
              <a:rPr lang="ru-RU" sz="7200" dirty="0">
                <a:latin typeface="Bahnschrift Condensed" panose="020B0502040204020203" pitchFamily="34" charset="0"/>
              </a:rPr>
              <a:t>Описание документации </a:t>
            </a:r>
            <a:r>
              <a:rPr lang="ru-RU" sz="4400" dirty="0">
                <a:latin typeface="Bahnschrift Condensed" panose="020B0502040204020203" pitchFamily="34" charset="0"/>
              </a:rPr>
              <a:t>(</a:t>
            </a:r>
            <a:r>
              <a:rPr lang="en-US" sz="4400" dirty="0">
                <a:latin typeface="Bahnschrift Condensed" panose="020B0502040204020203" pitchFamily="34" charset="0"/>
              </a:rPr>
              <a:t>deploy.md)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07DC8-9F2B-DAA1-04F1-E38683C7F96E}"/>
              </a:ext>
            </a:extLst>
          </p:cNvPr>
          <p:cNvSpPr txBox="1"/>
          <p:nvPr/>
        </p:nvSpPr>
        <p:spPr>
          <a:xfrm>
            <a:off x="7518400" y="1059463"/>
            <a:ext cx="429622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Содержание документа:</a:t>
            </a:r>
            <a:endParaRPr lang="en-US" sz="2000" b="1" dirty="0"/>
          </a:p>
          <a:p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Требования к серверу (</a:t>
            </a:r>
            <a:r>
              <a:rPr lang="ru-RU" sz="2000" dirty="0" err="1"/>
              <a:t>Docker</a:t>
            </a:r>
            <a:r>
              <a:rPr lang="ru-RU" sz="2000" dirty="0"/>
              <a:t>, RAM, дисковое пространство)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Пошаговая настройка (клонирование, переменные окружения, запуск)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Три способа развёртывания (</a:t>
            </a:r>
            <a:r>
              <a:rPr lang="ru-RU" sz="2000" dirty="0" err="1"/>
              <a:t>Docker</a:t>
            </a:r>
            <a:r>
              <a:rPr lang="ru-RU" sz="2000" dirty="0"/>
              <a:t>, XAMPP, Production)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Резервное копирование (дамп БД, тома </a:t>
            </a:r>
            <a:r>
              <a:rPr lang="ru-RU" sz="2000" dirty="0" err="1"/>
              <a:t>Docker</a:t>
            </a:r>
            <a:r>
              <a:rPr lang="ru-RU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Устранение неполадок</a:t>
            </a:r>
          </a:p>
          <a:p>
            <a:endParaRPr lang="ru-RU" dirty="0"/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3E0D9DA5-D65E-2855-1E85-C2B712D9E900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12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67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29D7-7B77-80D2-B645-E8EDCDD6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82A64-5C56-465E-97B2-DDCE1FDB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277257"/>
            <a:ext cx="6008915" cy="4214138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7200" dirty="0">
                <a:latin typeface="Bahnschrift Condensed" panose="020B0502040204020203" pitchFamily="34" charset="0"/>
              </a:rPr>
              <a:t> Описание документации </a:t>
            </a:r>
            <a:r>
              <a:rPr lang="ru-RU" sz="4400" dirty="0">
                <a:latin typeface="Bahnschrift Condensed" panose="020B0502040204020203" pitchFamily="34" charset="0"/>
              </a:rPr>
              <a:t>(</a:t>
            </a:r>
            <a:r>
              <a:rPr lang="en-US" sz="4400" dirty="0">
                <a:latin typeface="Bahnschrift Condensed" panose="020B0502040204020203" pitchFamily="34" charset="0"/>
              </a:rPr>
              <a:t>deviations.md)</a:t>
            </a:r>
            <a:br>
              <a:rPr lang="en-US" dirty="0"/>
            </a:br>
            <a:endParaRPr lang="en-US" sz="44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A709A-B7FB-1391-90A7-0D52DD59BEC5}"/>
              </a:ext>
            </a:extLst>
          </p:cNvPr>
          <p:cNvSpPr txBox="1"/>
          <p:nvPr/>
        </p:nvSpPr>
        <p:spPr>
          <a:xfrm>
            <a:off x="7518400" y="1059463"/>
            <a:ext cx="429622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Содержание документа:</a:t>
            </a:r>
            <a:endParaRPr lang="en-US" sz="2000" b="1" dirty="0"/>
          </a:p>
          <a:p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Таблица всех расхождений между планом и реализацией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ID, где запланировано, что реализовано, причина, влияние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Итоговый процент реализации (~</a:t>
            </a:r>
            <a:r>
              <a:rPr lang="en-US" sz="2400" dirty="0"/>
              <a:t>65-</a:t>
            </a:r>
            <a:r>
              <a:rPr lang="ru-RU" sz="2400" dirty="0"/>
              <a:t>7</a:t>
            </a:r>
            <a:r>
              <a:rPr lang="en-US" sz="2400" dirty="0"/>
              <a:t>0</a:t>
            </a:r>
            <a:r>
              <a:rPr lang="ru-RU" sz="2400" dirty="0"/>
              <a:t>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План доработки на следующие версии</a:t>
            </a:r>
          </a:p>
          <a:p>
            <a:endParaRPr lang="ru-RU" dirty="0"/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64B776E1-FFF8-4398-1D33-86D1DA3B42CD}"/>
              </a:ext>
            </a:extLst>
          </p:cNvPr>
          <p:cNvSpPr txBox="1">
            <a:spLocks/>
          </p:cNvSpPr>
          <p:nvPr/>
        </p:nvSpPr>
        <p:spPr>
          <a:xfrm>
            <a:off x="11561252" y="6262914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Bahnschrift Condensed" panose="020B0502040204020203" pitchFamily="34" charset="0"/>
              </a:rPr>
              <a:t>13</a:t>
            </a:r>
            <a:endParaRPr lang="ru-RU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78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sz="6000" dirty="0">
                <a:latin typeface="Bahnschrift Condensed" panose="020B0502040204020203" pitchFamily="34" charset="0"/>
              </a:rPr>
              <a:t>Анализ расхождений</a:t>
            </a:r>
            <a:endParaRPr lang="ru-RU" sz="6000" b="1" dirty="0">
              <a:latin typeface="Bahnschrift Condensed" panose="020B0502040204020203" pitchFamily="34" charset="0"/>
            </a:endParaRPr>
          </a:p>
        </p:txBody>
      </p:sp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2319BC50-1F48-EBA6-324A-FB529427415D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64CC48-D057-7D40-8F28-6B4C254AC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" y="1961945"/>
            <a:ext cx="10907016" cy="355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0430DB-2AA1-0D9B-D7FC-8FD1307D5F59}"/>
              </a:ext>
            </a:extLst>
          </p:cNvPr>
          <p:cNvSpPr/>
          <p:nvPr/>
        </p:nvSpPr>
        <p:spPr>
          <a:xfrm>
            <a:off x="1654629" y="1204775"/>
            <a:ext cx="8882742" cy="5176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52607-79F4-9A91-3A0B-429BDED9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107" y="1224098"/>
            <a:ext cx="6824436" cy="96755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800" dirty="0"/>
              <a:t>Итоги работы (4 модуль)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FADBB-0E23-1CEA-AF7F-2CD0B208A325}"/>
              </a:ext>
            </a:extLst>
          </p:cNvPr>
          <p:cNvSpPr txBox="1"/>
          <p:nvPr/>
        </p:nvSpPr>
        <p:spPr>
          <a:xfrm>
            <a:off x="2496457" y="2191657"/>
            <a:ext cx="85634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Bahnschrift Condensed" panose="020B0502040204020203" pitchFamily="34" charset="0"/>
              </a:rPr>
              <a:t>✅ Доработана функциональность приложения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Удаление комментариев (автор, автор статьи, админ)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Удаление статей админом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Поиск по статьям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Админ-панель (пользователи, статьи, комментарии)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Улучшен UI/UX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✅ </a:t>
            </a:r>
            <a:r>
              <a:rPr lang="ru-RU" sz="2400" dirty="0" err="1">
                <a:latin typeface="Bahnschrift Condensed" panose="020B0502040204020203" pitchFamily="34" charset="0"/>
              </a:rPr>
              <a:t>Docker</a:t>
            </a:r>
            <a:r>
              <a:rPr lang="ru-RU" sz="2400" dirty="0">
                <a:latin typeface="Bahnschrift Condensed" panose="020B0502040204020203" pitchFamily="34" charset="0"/>
              </a:rPr>
              <a:t> </a:t>
            </a:r>
            <a:r>
              <a:rPr lang="ru-RU" sz="2400" dirty="0" err="1">
                <a:latin typeface="Bahnschrift Condensed" panose="020B0502040204020203" pitchFamily="34" charset="0"/>
              </a:rPr>
              <a:t>Compose</a:t>
            </a:r>
            <a:r>
              <a:rPr lang="ru-RU" sz="2400" dirty="0">
                <a:latin typeface="Bahnschrift Condensed" panose="020B0502040204020203" pitchFamily="34" charset="0"/>
              </a:rPr>
              <a:t> для </a:t>
            </a:r>
            <a:r>
              <a:rPr lang="ru-RU" sz="2400" dirty="0" err="1">
                <a:latin typeface="Bahnschrift Condensed" panose="020B0502040204020203" pitchFamily="34" charset="0"/>
              </a:rPr>
              <a:t>многоконтейнерного</a:t>
            </a:r>
            <a:r>
              <a:rPr lang="ru-RU" sz="2400" dirty="0">
                <a:latin typeface="Bahnschrift Condensed" panose="020B0502040204020203" pitchFamily="34" charset="0"/>
              </a:rPr>
              <a:t> приложения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ru-RU" sz="2400" dirty="0">
                <a:latin typeface="Bahnschrift Condensed" panose="020B0502040204020203" pitchFamily="34" charset="0"/>
              </a:rPr>
              <a:t>Контейнеры: PHP/Apache, MySQL 8.0, </a:t>
            </a:r>
            <a:r>
              <a:rPr lang="ru-RU" sz="2400" dirty="0" err="1">
                <a:latin typeface="Bahnschrift Condensed" panose="020B0502040204020203" pitchFamily="34" charset="0"/>
              </a:rPr>
              <a:t>phpMyAdmin</a:t>
            </a:r>
            <a:endParaRPr lang="ru-RU" sz="2400" dirty="0">
              <a:latin typeface="Bahnschrift Condensed" panose="020B0502040204020203" pitchFamily="34" charset="0"/>
            </a:endParaRPr>
          </a:p>
          <a:p>
            <a:r>
              <a:rPr lang="ru-RU" sz="2400" dirty="0">
                <a:latin typeface="Bahnschrift Condensed" panose="020B0502040204020203" pitchFamily="34" charset="0"/>
              </a:rPr>
              <a:t>✅ Релизный репозиторий с тегом v1.0.0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✅ Полная документация (4 документа + README)</a:t>
            </a: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90C24889-A30B-EE1D-76F6-C3F5F9686EEA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92537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13" y="472928"/>
            <a:ext cx="11408229" cy="922516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sz="4800" dirty="0">
                <a:latin typeface="Bahnschrift Condensed" panose="020B0502040204020203" pitchFamily="34" charset="0"/>
              </a:rPr>
              <a:t>Итоги работы (как сделано и выбранные технологии)</a:t>
            </a:r>
            <a:endParaRPr lang="ru-RU" sz="4800" b="1" dirty="0">
              <a:latin typeface="Bahnschrift Condensed" panose="020B0502040204020203" pitchFamily="34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1570" y="2090058"/>
            <a:ext cx="4873446" cy="3372498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r>
              <a:rPr lang="ru-RU" sz="2400" b="1" dirty="0">
                <a:latin typeface="Bahnschrift Condensed" panose="020B0502040204020203" pitchFamily="34" charset="0"/>
              </a:rPr>
              <a:t>Технологии:</a:t>
            </a:r>
          </a:p>
          <a:p>
            <a:endParaRPr lang="ru-RU" sz="2400" dirty="0">
              <a:latin typeface="Bahnschrift Condensed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Backend: PHP 8.2 (MVC, Front Controller, PDO)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Frontend: HTML5, CSS3, Vanilla JS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anose="020B0502040204020203" pitchFamily="34" charset="0"/>
              </a:rPr>
              <a:t>База данных: </a:t>
            </a:r>
            <a:r>
              <a:rPr lang="en-US" sz="2400" dirty="0">
                <a:latin typeface="Bahnschrift Condensed" panose="020B0502040204020203" pitchFamily="34" charset="0"/>
              </a:rPr>
              <a:t>MySQL 8.0 (</a:t>
            </a:r>
            <a:r>
              <a:rPr lang="en-US" sz="2400" dirty="0" err="1">
                <a:latin typeface="Bahnschrift Condensed" panose="020B0502040204020203" pitchFamily="34" charset="0"/>
              </a:rPr>
              <a:t>InnoDB</a:t>
            </a:r>
            <a:r>
              <a:rPr lang="en-US" sz="2400" dirty="0">
                <a:latin typeface="Bahnschrift Condensed" panose="020B0502040204020203" pitchFamily="34" charset="0"/>
              </a:rPr>
              <a:t>, UTF-8)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anose="020B0502040204020203" pitchFamily="34" charset="0"/>
              </a:rPr>
              <a:t>Контейнеризация: </a:t>
            </a:r>
            <a:r>
              <a:rPr lang="en-US" sz="2400" dirty="0">
                <a:latin typeface="Bahnschrift Condensed" panose="020B0502040204020203" pitchFamily="34" charset="0"/>
              </a:rPr>
              <a:t>Docker 20.10+, Docker Compose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Bahnschrift Condensed" panose="020B0502040204020203" pitchFamily="34" charset="0"/>
              </a:rPr>
              <a:t>Контроль версий: </a:t>
            </a:r>
            <a:r>
              <a:rPr lang="en-US" sz="2400" dirty="0">
                <a:latin typeface="Bahnschrift Condensed" panose="020B0502040204020203" pitchFamily="34" charset="0"/>
              </a:rPr>
              <a:t>Git, GitHub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96321" y="2090057"/>
            <a:ext cx="4873446" cy="3372497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400" dirty="0">
                <a:latin typeface="Bahnschrift Condensed" panose="020B0502040204020203" pitchFamily="34" charset="0"/>
              </a:rPr>
              <a:t>Почему именно они:</a:t>
            </a:r>
          </a:p>
          <a:p>
            <a:pPr rtl="0"/>
            <a:endParaRPr lang="ru-RU" sz="2400" dirty="0">
              <a:latin typeface="Bahnschrift Condensed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PHP 8.2: </a:t>
            </a:r>
            <a:r>
              <a:rPr lang="ru-RU" sz="2400" dirty="0">
                <a:latin typeface="Bahnschrift Condensed" panose="020B0502040204020203" pitchFamily="34" charset="0"/>
              </a:rPr>
              <a:t>широкая распространённость, простота, </a:t>
            </a:r>
            <a:r>
              <a:rPr lang="en-US" sz="2400" dirty="0">
                <a:latin typeface="Bahnschrift Condensed" panose="020B0502040204020203" pitchFamily="34" charset="0"/>
              </a:rPr>
              <a:t>PDO</a:t>
            </a:r>
            <a:r>
              <a:rPr lang="ru-RU" sz="2400" dirty="0">
                <a:latin typeface="Bahnschrift Condensed" panose="020B050204020402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MySQL 8.0: </a:t>
            </a:r>
            <a:r>
              <a:rPr lang="ru-RU" sz="2400" dirty="0">
                <a:latin typeface="Bahnschrift Condensed" panose="020B0502040204020203" pitchFamily="34" charset="0"/>
              </a:rPr>
              <a:t>Надёжность, поддержка </a:t>
            </a:r>
            <a:r>
              <a:rPr lang="en-US" sz="2400" dirty="0">
                <a:latin typeface="Bahnschrift Condensed" panose="020B0502040204020203" pitchFamily="34" charset="0"/>
              </a:rPr>
              <a:t>UTF-8.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Docker: </a:t>
            </a:r>
            <a:r>
              <a:rPr lang="ru-RU" sz="2400" dirty="0">
                <a:latin typeface="Bahnschrift Condensed" panose="020B0502040204020203" pitchFamily="34" charset="0"/>
              </a:rPr>
              <a:t>Изоляция, воспроизводимость, лёгкий деплой</a:t>
            </a:r>
            <a:r>
              <a:rPr lang="en-US" sz="2400" dirty="0">
                <a:latin typeface="Bahnschrift Condensed" panose="020B0502040204020203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Bahnschrift Condensed" panose="020B0502040204020203" pitchFamily="34" charset="0"/>
              </a:rPr>
              <a:t>Git/</a:t>
            </a:r>
            <a:r>
              <a:rPr lang="en-US" sz="2400" dirty="0" err="1">
                <a:latin typeface="Bahnschrift Condensed" panose="020B0502040204020203" pitchFamily="34" charset="0"/>
              </a:rPr>
              <a:t>Github</a:t>
            </a:r>
            <a:r>
              <a:rPr lang="en-US" sz="2400" dirty="0">
                <a:latin typeface="Bahnschrift Condensed" panose="020B0502040204020203" pitchFamily="34" charset="0"/>
              </a:rPr>
              <a:t>: </a:t>
            </a:r>
            <a:r>
              <a:rPr lang="ru-RU" sz="2400" dirty="0">
                <a:latin typeface="Bahnschrift Condensed" panose="020B0502040204020203" pitchFamily="34" charset="0"/>
              </a:rPr>
              <a:t>будущие проекты, удобство, понимание.</a:t>
            </a:r>
          </a:p>
          <a:p>
            <a:pPr marL="342900" indent="-342900" rtl="0">
              <a:buFont typeface="+mj-lt"/>
              <a:buAutoNum type="arabicPeriod"/>
            </a:pPr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6FFD59DB-3299-FEA3-9C67-6BAA0538F08F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1768-96CF-05EB-0BAD-BA4141757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66851-B069-8589-5ED5-C0DFEE9D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635" y="1302091"/>
            <a:ext cx="5946389" cy="3545679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4400" dirty="0">
                <a:latin typeface="Bahnschrift Condensed" panose="020B0502040204020203" pitchFamily="34" charset="0"/>
              </a:rPr>
              <a:t>Итоги работы (распределение обязанностей)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Гармонов Р.А. </a:t>
            </a:r>
            <a:br>
              <a:rPr lang="ru-RU" dirty="0"/>
            </a:br>
            <a:r>
              <a:rPr lang="ru-RU" sz="2800" dirty="0"/>
              <a:t>(</a:t>
            </a:r>
            <a:r>
              <a:rPr lang="en-US" sz="2800" b="0" dirty="0"/>
              <a:t>Full-stack </a:t>
            </a:r>
            <a:r>
              <a:rPr lang="ru-RU" sz="2800" b="0" dirty="0"/>
              <a:t>разработчик</a:t>
            </a:r>
            <a:r>
              <a:rPr lang="ru-RU" sz="2800" dirty="0"/>
              <a:t>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30B69-CDF7-D7DC-5E63-70B0D8BD6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75977" y="1835149"/>
            <a:ext cx="3640366" cy="3012621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200" b="1" dirty="0">
                <a:latin typeface="Bahnschrift Condensed" panose="020B0502040204020203" pitchFamily="34" charset="0"/>
              </a:rPr>
              <a:t>Обязанности:</a:t>
            </a:r>
            <a:endParaRPr lang="ru-RU" sz="2200" dirty="0">
              <a:latin typeface="Bahnschrift Condensed" panose="020B0502040204020203" pitchFamily="34" charset="0"/>
            </a:endParaRPr>
          </a:p>
          <a:p>
            <a:r>
              <a:rPr lang="ru-RU" sz="2200" dirty="0">
                <a:latin typeface="Bahnschrift Condensed" panose="020B0502040204020203" pitchFamily="34" charset="0"/>
              </a:rPr>
              <a:t>Проектирование архитектуры и БД</a:t>
            </a:r>
          </a:p>
          <a:p>
            <a:r>
              <a:rPr lang="ru-RU" sz="2200" dirty="0">
                <a:latin typeface="Bahnschrift Condensed" panose="020B0502040204020203" pitchFamily="34" charset="0"/>
              </a:rPr>
              <a:t>Разработка бэкенда (PHP, MySQL)</a:t>
            </a:r>
          </a:p>
          <a:p>
            <a:r>
              <a:rPr lang="ru-RU" sz="2200" dirty="0">
                <a:latin typeface="Bahnschrift Condensed" panose="020B0502040204020203" pitchFamily="34" charset="0"/>
              </a:rPr>
              <a:t>Разработка фронтенда (HTML, CSS, JS)</a:t>
            </a:r>
          </a:p>
          <a:p>
            <a:r>
              <a:rPr lang="ru-RU" sz="2200" dirty="0">
                <a:latin typeface="Bahnschrift Condensed" panose="020B0502040204020203" pitchFamily="34" charset="0"/>
              </a:rPr>
              <a:t>Контейнеризация (</a:t>
            </a:r>
            <a:r>
              <a:rPr lang="ru-RU" sz="2200" dirty="0" err="1">
                <a:latin typeface="Bahnschrift Condensed" panose="020B0502040204020203" pitchFamily="34" charset="0"/>
              </a:rPr>
              <a:t>Docker</a:t>
            </a:r>
            <a:r>
              <a:rPr lang="ru-RU" sz="2200" dirty="0">
                <a:latin typeface="Bahnschrift Condensed" panose="020B0502040204020203" pitchFamily="34" charset="0"/>
              </a:rPr>
              <a:t>)</a:t>
            </a:r>
          </a:p>
          <a:p>
            <a:r>
              <a:rPr lang="ru-RU" sz="2200" dirty="0">
                <a:latin typeface="Bahnschrift Condensed" panose="020B0502040204020203" pitchFamily="34" charset="0"/>
              </a:rPr>
              <a:t>Документации</a:t>
            </a:r>
          </a:p>
          <a:p>
            <a:r>
              <a:rPr lang="ru-RU" sz="2200" dirty="0">
                <a:latin typeface="Bahnschrift Condensed" panose="020B0502040204020203" pitchFamily="34" charset="0"/>
              </a:rPr>
              <a:t>Презентации</a:t>
            </a: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A59D238B-43B3-90B5-32D7-0DF32B72331A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1728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4F4095-BDED-C078-22D5-1BF1E3AA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990005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sz="6000" dirty="0">
                <a:latin typeface="Bahnschrift Condensed" panose="020B0502040204020203" pitchFamily="34" charset="0"/>
              </a:rPr>
              <a:t>Итоги работы (проблемы и решения)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6C2BF529-2BDD-94C0-202F-CA0D13A1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Узнайте, как выступать энергично, чтобы оставить неизгладимое впечатление</a:t>
            </a:r>
          </a:p>
          <a:p>
            <a:pPr rtl="0"/>
            <a:r>
              <a:rPr lang="ru-RU" dirty="0"/>
              <a:t>Одна из целей эффективного общения — мотивировать слушателей</a:t>
            </a:r>
          </a:p>
        </p:txBody>
      </p:sp>
      <p:sp>
        <p:nvSpPr>
          <p:cNvPr id="6" name="Таблица 5">
            <a:extLst>
              <a:ext uri="{FF2B5EF4-FFF2-40B4-BE49-F238E27FC236}">
                <a16:creationId xmlns:a16="http://schemas.microsoft.com/office/drawing/2014/main" id="{A712C5C2-7FFD-6036-2563-C2957952EC2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8A82EA-7F6C-3F91-A89E-0293A60C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4" y="2187077"/>
            <a:ext cx="11492904" cy="3877216"/>
          </a:xfrm>
          <a:prstGeom prst="rect">
            <a:avLst/>
          </a:prstGeom>
        </p:spPr>
      </p:pic>
      <p:sp>
        <p:nvSpPr>
          <p:cNvPr id="10" name="Номер слайда 4">
            <a:extLst>
              <a:ext uri="{FF2B5EF4-FFF2-40B4-BE49-F238E27FC236}">
                <a16:creationId xmlns:a16="http://schemas.microsoft.com/office/drawing/2014/main" id="{1D87B29E-7516-3430-7F90-2A9243388F57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641361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AFE818-0DBE-0E12-2EC7-51B4468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sz="6000" dirty="0">
                <a:latin typeface="Bahnschrift Condensed" panose="020B0502040204020203" pitchFamily="34" charset="0"/>
              </a:rPr>
              <a:t>Итоги работы (полученный опыт)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9F7EB49-933E-A50D-F0EA-A0AB11F7D050}"/>
              </a:ext>
            </a:extLst>
          </p:cNvPr>
          <p:cNvSpPr/>
          <p:nvPr/>
        </p:nvSpPr>
        <p:spPr>
          <a:xfrm>
            <a:off x="641350" y="1799771"/>
            <a:ext cx="10930787" cy="3995057"/>
          </a:xfrm>
          <a:prstGeom prst="roundRect">
            <a:avLst>
              <a:gd name="adj" fmla="val 1086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800" b="1" dirty="0"/>
              <a:t>Полученный опыт:</a:t>
            </a:r>
            <a:endParaRPr lang="ru-RU" sz="2800" dirty="0"/>
          </a:p>
          <a:p>
            <a:r>
              <a:rPr lang="ru-RU" sz="2800" dirty="0"/>
              <a:t>🐳 Работа с </a:t>
            </a:r>
            <a:r>
              <a:rPr lang="ru-RU" sz="2800" dirty="0" err="1"/>
              <a:t>Docker</a:t>
            </a:r>
            <a:r>
              <a:rPr lang="ru-RU" sz="2800" dirty="0"/>
              <a:t> и </a:t>
            </a:r>
            <a:r>
              <a:rPr lang="ru-RU" sz="2800" dirty="0" err="1"/>
              <a:t>Docker</a:t>
            </a:r>
            <a:r>
              <a:rPr lang="ru-RU" sz="2800" dirty="0"/>
              <a:t> </a:t>
            </a:r>
            <a:r>
              <a:rPr lang="ru-RU" sz="2800" dirty="0" err="1"/>
              <a:t>Compose</a:t>
            </a:r>
            <a:endParaRPr lang="ru-RU" sz="2800" dirty="0"/>
          </a:p>
          <a:p>
            <a:r>
              <a:rPr lang="ru-RU" sz="2800" dirty="0"/>
              <a:t>📦 Создание релизных версий и тегов в </a:t>
            </a:r>
            <a:r>
              <a:rPr lang="ru-RU" sz="2800" dirty="0" err="1"/>
              <a:t>Git</a:t>
            </a:r>
            <a:endParaRPr lang="ru-RU" sz="2800" dirty="0"/>
          </a:p>
          <a:p>
            <a:r>
              <a:rPr lang="ru-RU" sz="2800" dirty="0"/>
              <a:t>📝 Написание технической документации</a:t>
            </a:r>
          </a:p>
          <a:p>
            <a:r>
              <a:rPr lang="ru-RU" sz="2800" dirty="0"/>
              <a:t>🔧 Доработка существующего функционала</a:t>
            </a:r>
          </a:p>
          <a:p>
            <a:r>
              <a:rPr lang="ru-RU" sz="2800" dirty="0"/>
              <a:t>🛡️ Обеспечение безопасности (SQL-инъекции, XSS)</a:t>
            </a:r>
          </a:p>
          <a:p>
            <a:r>
              <a:rPr lang="ru-RU" sz="2800" dirty="0"/>
              <a:t>🐛 Отладка и решение проблем</a:t>
            </a:r>
          </a:p>
          <a:p>
            <a:r>
              <a:rPr lang="ru-RU" sz="2800" dirty="0"/>
              <a:t>🚀 Публикация приложения</a:t>
            </a:r>
          </a:p>
        </p:txBody>
      </p:sp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7B86FF24-5049-E54C-6446-DEF8CE288ADD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90731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A40F-59A0-02DD-68F5-B471EE716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8B2CD-6E32-0505-CC0A-023D31E6B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7751" y="1876097"/>
            <a:ext cx="7896498" cy="192339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>
                <a:latin typeface="Bahnschrift Condensed" panose="020B0502040204020203" pitchFamily="34" charset="0"/>
              </a:rPr>
              <a:t>BloGGing</a:t>
            </a:r>
            <a:r>
              <a:rPr lang="ru-RU" dirty="0">
                <a:latin typeface="Bahnschrift Condensed" panose="020B0502040204020203" pitchFamily="34" charset="0"/>
              </a:rPr>
              <a:t>-</a:t>
            </a:r>
            <a:r>
              <a:rPr lang="en-US" dirty="0" err="1">
                <a:latin typeface="Bahnschrift Condensed" panose="020B0502040204020203" pitchFamily="34" charset="0"/>
              </a:rPr>
              <a:t>CenteR</a:t>
            </a:r>
            <a:br>
              <a:rPr lang="ru-RU" b="0" dirty="0">
                <a:latin typeface="Bahnschrift Condensed" panose="020B0502040204020203" pitchFamily="34" charset="0"/>
              </a:rPr>
            </a:br>
            <a:r>
              <a:rPr lang="ru-RU" sz="3600" b="0" i="1" dirty="0">
                <a:latin typeface="Bahnschrift Condensed" panose="020B0502040204020203" pitchFamily="34" charset="0"/>
              </a:rPr>
              <a:t>Платформа для ведения тематических блогов</a:t>
            </a:r>
            <a:br>
              <a:rPr lang="ru-RU" sz="3600" b="0" dirty="0">
                <a:latin typeface="Bahnschrift Condensed" panose="020B0502040204020203" pitchFamily="34" charset="0"/>
              </a:rPr>
            </a:br>
            <a:br>
              <a:rPr lang="ru-RU" b="0" dirty="0"/>
            </a:br>
            <a:endParaRPr lang="ru-RU" sz="36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44481-0EC6-42C5-29AD-76A9044149C5}"/>
              </a:ext>
            </a:extLst>
          </p:cNvPr>
          <p:cNvSpPr txBox="1"/>
          <p:nvPr/>
        </p:nvSpPr>
        <p:spPr>
          <a:xfrm>
            <a:off x="3726543" y="3429000"/>
            <a:ext cx="473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Модуль 4: </a:t>
            </a:r>
            <a:r>
              <a:rPr lang="ru-RU" dirty="0" err="1"/>
              <a:t>Docker</a:t>
            </a:r>
            <a:r>
              <a:rPr lang="ru-RU" dirty="0"/>
              <a:t>, Релиз, Документация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B9361-D2EB-F5B0-ED9E-0DE4268B5B97}"/>
              </a:ext>
            </a:extLst>
          </p:cNvPr>
          <p:cNvSpPr txBox="1"/>
          <p:nvPr/>
        </p:nvSpPr>
        <p:spPr>
          <a:xfrm>
            <a:off x="2147751" y="4887254"/>
            <a:ext cx="7110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Гармонов Родион Андреевич, ПИб-242</a:t>
            </a:r>
          </a:p>
          <a:p>
            <a:r>
              <a:rPr lang="ru-RU" dirty="0"/>
              <a:t>Репозиторий:</a:t>
            </a:r>
            <a:r>
              <a:rPr lang="ru-RU" u="sng" dirty="0">
                <a:solidFill>
                  <a:schemeClr val="accent4">
                    <a:lumMod val="50000"/>
                  </a:schemeClr>
                </a:solidFill>
              </a:rPr>
              <a:t> 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github.com/r0de0-student/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BloGGer-CenteR</a:t>
            </a:r>
            <a:endParaRPr lang="ru-RU" u="sng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ru-RU" dirty="0"/>
              <a:t>Релиз: 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github.com/r0de0-student/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</a:rPr>
              <a:t>BloGGer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-</a:t>
            </a:r>
            <a:r>
              <a:rPr lang="en-US" u="sng" dirty="0" err="1">
                <a:solidFill>
                  <a:schemeClr val="accent4">
                    <a:lumMod val="50000"/>
                  </a:schemeClr>
                </a:solidFill>
              </a:rPr>
              <a:t>CenteR</a:t>
            </a:r>
            <a:r>
              <a:rPr lang="en-US" u="sng" dirty="0">
                <a:solidFill>
                  <a:schemeClr val="accent4">
                    <a:lumMod val="50000"/>
                  </a:schemeClr>
                </a:solidFill>
              </a:rPr>
              <a:t>-Release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2EB8315-5B1B-5FD7-D5AE-0F2ED6EA5C72}"/>
              </a:ext>
            </a:extLst>
          </p:cNvPr>
          <p:cNvSpPr txBox="1">
            <a:spLocks/>
          </p:cNvSpPr>
          <p:nvPr/>
        </p:nvSpPr>
        <p:spPr>
          <a:xfrm>
            <a:off x="11548366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lang="ru-RU" sz="1800" b="1" kern="1200" smtClean="0">
                <a:solidFill>
                  <a:schemeClr val="tx1"/>
                </a:solidFill>
                <a:latin typeface="+mj-lt"/>
                <a:ea typeface="+mn-ea"/>
                <a:cs typeface="+mj-cs"/>
              </a:defRPr>
            </a:lvl1pPr>
            <a:lvl2pPr marL="457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dirty="0">
                <a:latin typeface="Bahnschrift Condensed" panose="020B0502040204020203" pitchFamily="34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6161303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Calibri"/>
        <a:ea typeface=""/>
        <a:cs typeface="Calibri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674</Words>
  <Application>Microsoft Office PowerPoint</Application>
  <PresentationFormat>Широкоэкранный</PresentationFormat>
  <Paragraphs>139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Arial</vt:lpstr>
      <vt:lpstr>Bahnschrift Condensed</vt:lpstr>
      <vt:lpstr>Calibri</vt:lpstr>
      <vt:lpstr>Century Gothic</vt:lpstr>
      <vt:lpstr>Wingdings</vt:lpstr>
      <vt:lpstr>Пользовательская</vt:lpstr>
      <vt:lpstr>BloGGing-CenteR Платформа для ведения тематических блогов  </vt:lpstr>
      <vt:lpstr> Доработанная функциональность </vt:lpstr>
      <vt:lpstr>Презентация PowerPoint</vt:lpstr>
      <vt:lpstr>Презентация PowerPoint</vt:lpstr>
      <vt:lpstr>Релизный репозиторий  (корень)</vt:lpstr>
      <vt:lpstr>Релизный репозиторий (документы) </vt:lpstr>
      <vt:lpstr>Релизный репозиторий (README.md) </vt:lpstr>
      <vt:lpstr>Релизный репозиторий (Docker) </vt:lpstr>
      <vt:lpstr>Релизный репозиторий (Docker-compose.yml) </vt:lpstr>
      <vt:lpstr>Описание документации (user_guide.md)</vt:lpstr>
      <vt:lpstr> Описание документации (dev_guide.md)</vt:lpstr>
      <vt:lpstr> Описание документации (deploy.md)</vt:lpstr>
      <vt:lpstr> Описание документации (deviations.md) </vt:lpstr>
      <vt:lpstr>Анализ расхождений</vt:lpstr>
      <vt:lpstr>Итоги работы (4 модуль)</vt:lpstr>
      <vt:lpstr>Итоги работы (как сделано и выбранные технологии)</vt:lpstr>
      <vt:lpstr>Итоги работы (распределение обязанностей)  Гармонов Р.А.  (Full-stack разработчик) </vt:lpstr>
      <vt:lpstr>Итоги работы (проблемы и решения)</vt:lpstr>
      <vt:lpstr>Итоги работы (полученный опыт)</vt:lpstr>
      <vt:lpstr>BloGGing-CenteR Платформа для ведения тематических блогов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Родион Гармонов</dc:creator>
  <cp:lastModifiedBy>Родион Гармонов</cp:lastModifiedBy>
  <cp:revision>2</cp:revision>
  <dcterms:created xsi:type="dcterms:W3CDTF">2024-01-28T15:41:30Z</dcterms:created>
  <dcterms:modified xsi:type="dcterms:W3CDTF">2026-05-11T08:42:10Z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